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3004800" cy="7315200"/>
  <p:notesSz cx="6858000" cy="9144000"/>
  <p:embeddedFontLst>
    <p:embeddedFont>
      <p:font typeface="Varela Round" charset="1" panose="00000500000000000000"/>
      <p:regular r:id="rId14"/>
    </p:embeddedFont>
    <p:embeddedFont>
      <p:font typeface="Montserrat" charset="1" panose="00000500000000000000"/>
      <p:regular r:id="rId15"/>
    </p:embeddedFont>
    <p:embeddedFont>
      <p:font typeface="Bogart" charset="1" panose="00000500000000000000"/>
      <p:regular r:id="rId16"/>
    </p:embeddedFont>
    <p:embeddedFont>
      <p:font typeface="Bogart Bold" charset="1" panose="00000800000000000000"/>
      <p:regular r:id="rId17"/>
    </p:embeddedFont>
    <p:embeddedFont>
      <p:font typeface="Montserrat Bold" charset="1" panose="00000800000000000000"/>
      <p:regular r:id="rId18"/>
    </p:embeddedFont>
    <p:embeddedFont>
      <p:font typeface="Yeseva One" charset="1" panose="00000500000000000000"/>
      <p:regular r:id="rId19"/>
    </p:embeddedFont>
    <p:embeddedFont>
      <p:font typeface="Glacial Indifference" charset="1" panose="000000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2137156" y="4899094"/>
            <a:ext cx="4075453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95314" y="2582793"/>
            <a:ext cx="6350241" cy="1343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99"/>
              </a:lnSpc>
            </a:pPr>
            <a:r>
              <a:rPr lang="en-US" sz="9999">
                <a:solidFill>
                  <a:srgbClr val="02924D"/>
                </a:solidFill>
                <a:latin typeface="Varela Round"/>
                <a:ea typeface="Varela Round"/>
                <a:cs typeface="Varela Round"/>
                <a:sym typeface="Varela Round"/>
              </a:rPr>
              <a:t>iLARS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95314" y="4313337"/>
            <a:ext cx="6159138" cy="247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90"/>
              </a:lnSpc>
              <a:spcBef>
                <a:spcPct val="0"/>
              </a:spcBef>
            </a:pPr>
            <a:r>
              <a:rPr lang="en-US" sz="1493" spc="13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SMART SUPPORT FOR LIFE AFTER RECTAL SURGERY.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505575" y="837209"/>
            <a:ext cx="7045021" cy="6151326"/>
          </a:xfrm>
          <a:custGeom>
            <a:avLst/>
            <a:gdLst/>
            <a:ahLst/>
            <a:cxnLst/>
            <a:rect r="r" b="b" t="t" l="l"/>
            <a:pathLst>
              <a:path h="6151326" w="7045021">
                <a:moveTo>
                  <a:pt x="0" y="0"/>
                </a:moveTo>
                <a:lnTo>
                  <a:pt x="7045021" y="0"/>
                </a:lnTo>
                <a:lnTo>
                  <a:pt x="7045021" y="6151327"/>
                </a:lnTo>
                <a:lnTo>
                  <a:pt x="0" y="61513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2237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31520" y="3073220"/>
            <a:ext cx="5268983" cy="3510460"/>
          </a:xfrm>
          <a:custGeom>
            <a:avLst/>
            <a:gdLst/>
            <a:ahLst/>
            <a:cxnLst/>
            <a:rect r="r" b="b" t="t" l="l"/>
            <a:pathLst>
              <a:path h="3510460" w="5268983">
                <a:moveTo>
                  <a:pt x="0" y="0"/>
                </a:moveTo>
                <a:lnTo>
                  <a:pt x="5268983" y="0"/>
                </a:lnTo>
                <a:lnTo>
                  <a:pt x="5268983" y="3510460"/>
                </a:lnTo>
                <a:lnTo>
                  <a:pt x="0" y="35104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756497" y="731520"/>
            <a:ext cx="5523133" cy="3679788"/>
          </a:xfrm>
          <a:custGeom>
            <a:avLst/>
            <a:gdLst/>
            <a:ahLst/>
            <a:cxnLst/>
            <a:rect r="r" b="b" t="t" l="l"/>
            <a:pathLst>
              <a:path h="3679788" w="5523133">
                <a:moveTo>
                  <a:pt x="0" y="0"/>
                </a:moveTo>
                <a:lnTo>
                  <a:pt x="5523133" y="0"/>
                </a:lnTo>
                <a:lnTo>
                  <a:pt x="5523133" y="3679788"/>
                </a:lnTo>
                <a:lnTo>
                  <a:pt x="0" y="36797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75881" y="348369"/>
            <a:ext cx="5774055" cy="544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2"/>
              </a:lnSpc>
            </a:pPr>
            <a:r>
              <a:rPr lang="en-US" sz="3525">
                <a:solidFill>
                  <a:srgbClr val="000000"/>
                </a:solidFill>
                <a:latin typeface="Bogart"/>
                <a:ea typeface="Bogart"/>
                <a:cs typeface="Bogart"/>
                <a:sym typeface="Bogart"/>
              </a:rPr>
              <a:t>The </a:t>
            </a:r>
            <a:r>
              <a:rPr lang="en-US" sz="3525" b="true">
                <a:solidFill>
                  <a:srgbClr val="000000"/>
                </a:solidFill>
                <a:latin typeface="Bogart Bold"/>
                <a:ea typeface="Bogart Bold"/>
                <a:cs typeface="Bogart Bold"/>
                <a:sym typeface="Bogart Bold"/>
              </a:rPr>
              <a:t>problem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31520" y="1676879"/>
            <a:ext cx="5636403" cy="1325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8"/>
              </a:lnSpc>
            </a:pPr>
            <a:r>
              <a:rPr lang="en-US" sz="17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❌ No easy way for patients to track daily symptoms</a:t>
            </a:r>
          </a:p>
          <a:p>
            <a:pPr algn="ctr">
              <a:lnSpc>
                <a:spcPts val="3608"/>
              </a:lnSpc>
            </a:pPr>
            <a:r>
              <a:rPr lang="en-US" sz="17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❌ Important information often lost between visits</a:t>
            </a:r>
          </a:p>
          <a:p>
            <a:pPr algn="ctr">
              <a:lnSpc>
                <a:spcPts val="3608"/>
              </a:lnSpc>
            </a:pPr>
            <a:r>
              <a:rPr lang="en-US" sz="17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828802" y="4959108"/>
            <a:ext cx="5085797" cy="1219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9"/>
              </a:lnSpc>
            </a:pPr>
            <a:r>
              <a:rPr lang="en-US" sz="17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❌ L</a:t>
            </a:r>
            <a:r>
              <a:rPr lang="en-US" sz="17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ack of </a:t>
            </a:r>
            <a:r>
              <a:rPr lang="en-US" sz="17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-US" sz="17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r>
              <a:rPr lang="en-US" sz="17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lang="en-US" sz="17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uctu</a:t>
            </a:r>
            <a:r>
              <a:rPr lang="en-US" sz="17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</a:t>
            </a:r>
            <a:r>
              <a:rPr lang="en-US" sz="17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d, longitudinal data</a:t>
            </a:r>
          </a:p>
          <a:p>
            <a:pPr algn="ctr">
              <a:lnSpc>
                <a:spcPts val="3319"/>
              </a:lnSpc>
            </a:pPr>
            <a:r>
              <a:rPr lang="en-US" sz="17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❌ No digital t</a:t>
            </a:r>
            <a:r>
              <a:rPr lang="en-US" sz="17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ool</a:t>
            </a:r>
            <a:r>
              <a:rPr lang="en-US" sz="17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-US" sz="17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7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r>
              <a:rPr lang="en-US" sz="17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17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-US" sz="17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lor</a:t>
            </a:r>
            <a:r>
              <a:rPr lang="en-US" sz="17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ed specifically to LARS</a:t>
            </a:r>
          </a:p>
          <a:p>
            <a:pPr algn="ctr">
              <a:lnSpc>
                <a:spcPts val="3319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23606" y="371498"/>
            <a:ext cx="4794475" cy="4974390"/>
            <a:chOff x="0" y="0"/>
            <a:chExt cx="6392634" cy="663252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19050"/>
              <a:ext cx="6392634" cy="26503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262"/>
                </a:lnSpc>
              </a:pPr>
              <a:r>
                <a:rPr lang="en-US" sz="4244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Our best </a:t>
              </a:r>
              <a:r>
                <a:rPr lang="en-US" sz="4244" b="true">
                  <a:solidFill>
                    <a:srgbClr val="000000"/>
                  </a:solidFill>
                  <a:latin typeface="Bogart Bold"/>
                  <a:ea typeface="Bogart Bold"/>
                  <a:cs typeface="Bogart Bold"/>
                  <a:sym typeface="Bogart Bold"/>
                </a:rPr>
                <a:t>solution</a:t>
              </a:r>
            </a:p>
            <a:p>
              <a:pPr algn="ctr">
                <a:lnSpc>
                  <a:spcPts val="5262"/>
                </a:lnSpc>
              </a:pPr>
            </a:p>
            <a:p>
              <a:pPr algn="ctr" marL="0" indent="0" lvl="0">
                <a:lnSpc>
                  <a:spcPts val="5262"/>
                </a:lnSpc>
                <a:spcBef>
                  <a:spcPct val="0"/>
                </a:spcBef>
              </a:pP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025321"/>
              <a:ext cx="6392634" cy="36071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65"/>
                </a:lnSpc>
              </a:pPr>
              <a:r>
                <a:rPr lang="en-US" sz="1728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✔ Daily symptom tracking</a:t>
              </a:r>
            </a:p>
            <a:p>
              <a:pPr algn="ctr">
                <a:lnSpc>
                  <a:spcPts val="2765"/>
                </a:lnSpc>
              </a:pPr>
              <a:r>
                <a:rPr lang="en-US" sz="1728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?✔ LARS &amp; CRADI-8 score calculators</a:t>
              </a:r>
            </a:p>
            <a:p>
              <a:pPr algn="ctr">
                <a:lnSpc>
                  <a:spcPts val="2765"/>
                </a:lnSpc>
              </a:pPr>
              <a:r>
                <a:rPr lang="en-US" sz="1728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?✔ Stool </a:t>
              </a:r>
              <a:r>
                <a:rPr lang="en-US" sz="1728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</a:t>
              </a:r>
              <a:r>
                <a:rPr lang="en-US" sz="1728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</a:t>
              </a:r>
              <a:r>
                <a:rPr lang="en-US" sz="1728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</a:t>
              </a:r>
              <a:r>
                <a:rPr lang="en-US" sz="1728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ry (Bristol scale)</a:t>
              </a:r>
            </a:p>
            <a:p>
              <a:pPr algn="ctr">
                <a:lnSpc>
                  <a:spcPts val="2765"/>
                </a:lnSpc>
              </a:pPr>
              <a:r>
                <a:rPr lang="en-US" sz="1728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?✔ Daily diet l</a:t>
              </a:r>
              <a:r>
                <a:rPr lang="en-US" sz="1728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</a:t>
              </a:r>
              <a:r>
                <a:rPr lang="en-US" sz="1728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gging</a:t>
              </a:r>
            </a:p>
            <a:p>
              <a:pPr algn="ctr">
                <a:lnSpc>
                  <a:spcPts val="2765"/>
                </a:lnSpc>
              </a:pPr>
              <a:r>
                <a:rPr lang="en-US" sz="1728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?✔ P</a:t>
              </a:r>
              <a:r>
                <a:rPr lang="en-US" sz="1728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</a:t>
              </a:r>
              <a:r>
                <a:rPr lang="en-US" sz="1728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lv</a:t>
              </a:r>
              <a:r>
                <a:rPr lang="en-US" sz="1728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</a:t>
              </a:r>
              <a:r>
                <a:rPr lang="en-US" sz="1728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 floor &amp; diet educat</a:t>
              </a:r>
              <a:r>
                <a:rPr lang="en-US" sz="1728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ion</a:t>
              </a:r>
            </a:p>
            <a:p>
              <a:pPr algn="ctr">
                <a:lnSpc>
                  <a:spcPts val="2765"/>
                </a:lnSpc>
              </a:pPr>
              <a:r>
                <a:rPr lang="en-US" sz="1728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?✔ Trend vi</a:t>
              </a:r>
              <a:r>
                <a:rPr lang="en-US" sz="1728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</a:t>
              </a:r>
              <a:r>
                <a:rPr lang="en-US" sz="1728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ualization &amp; exportable PDF reports</a:t>
              </a:r>
            </a:p>
            <a:p>
              <a:pPr algn="ctr">
                <a:lnSpc>
                  <a:spcPts val="2765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577339" y="5614846"/>
            <a:ext cx="7856472" cy="544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72"/>
              </a:lnSpc>
              <a:spcBef>
                <a:spcPct val="0"/>
              </a:spcBef>
            </a:pPr>
          </a:p>
        </p:txBody>
      </p:sp>
      <p:sp>
        <p:nvSpPr>
          <p:cNvPr name="Freeform 6" id="6"/>
          <p:cNvSpPr/>
          <p:nvPr/>
        </p:nvSpPr>
        <p:spPr>
          <a:xfrm flipH="true" flipV="false" rot="10118691">
            <a:off x="7134672" y="5238359"/>
            <a:ext cx="1806864" cy="772024"/>
          </a:xfrm>
          <a:custGeom>
            <a:avLst/>
            <a:gdLst/>
            <a:ahLst/>
            <a:cxnLst/>
            <a:rect r="r" b="b" t="t" l="l"/>
            <a:pathLst>
              <a:path h="772024" w="1806864">
                <a:moveTo>
                  <a:pt x="1806864" y="0"/>
                </a:moveTo>
                <a:lnTo>
                  <a:pt x="0" y="0"/>
                </a:lnTo>
                <a:lnTo>
                  <a:pt x="0" y="772024"/>
                </a:lnTo>
                <a:lnTo>
                  <a:pt x="1806864" y="772024"/>
                </a:lnTo>
                <a:lnTo>
                  <a:pt x="180686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-914448">
            <a:off x="3059443" y="1462577"/>
            <a:ext cx="2054468" cy="877818"/>
          </a:xfrm>
          <a:custGeom>
            <a:avLst/>
            <a:gdLst/>
            <a:ahLst/>
            <a:cxnLst/>
            <a:rect r="r" b="b" t="t" l="l"/>
            <a:pathLst>
              <a:path h="877818" w="2054468">
                <a:moveTo>
                  <a:pt x="2054468" y="0"/>
                </a:moveTo>
                <a:lnTo>
                  <a:pt x="0" y="0"/>
                </a:lnTo>
                <a:lnTo>
                  <a:pt x="0" y="877818"/>
                </a:lnTo>
                <a:lnTo>
                  <a:pt x="2054468" y="877818"/>
                </a:lnTo>
                <a:lnTo>
                  <a:pt x="205446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731609" y="1383823"/>
            <a:ext cx="6563947" cy="5931377"/>
          </a:xfrm>
          <a:custGeom>
            <a:avLst/>
            <a:gdLst/>
            <a:ahLst/>
            <a:cxnLst/>
            <a:rect r="r" b="b" t="t" l="l"/>
            <a:pathLst>
              <a:path h="5931377" w="6563947">
                <a:moveTo>
                  <a:pt x="0" y="0"/>
                </a:moveTo>
                <a:lnTo>
                  <a:pt x="6563948" y="0"/>
                </a:lnTo>
                <a:lnTo>
                  <a:pt x="6563948" y="5931377"/>
                </a:lnTo>
                <a:lnTo>
                  <a:pt x="0" y="59313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10111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434070" y="144102"/>
            <a:ext cx="7161271" cy="7026997"/>
          </a:xfrm>
          <a:custGeom>
            <a:avLst/>
            <a:gdLst/>
            <a:ahLst/>
            <a:cxnLst/>
            <a:rect r="r" b="b" t="t" l="l"/>
            <a:pathLst>
              <a:path h="7026997" w="7161271">
                <a:moveTo>
                  <a:pt x="0" y="0"/>
                </a:moveTo>
                <a:lnTo>
                  <a:pt x="7161270" y="0"/>
                </a:lnTo>
                <a:lnTo>
                  <a:pt x="7161270" y="7026996"/>
                </a:lnTo>
                <a:lnTo>
                  <a:pt x="0" y="70269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040273" y="731520"/>
            <a:ext cx="7461966" cy="7315200"/>
            <a:chOff x="0" y="0"/>
            <a:chExt cx="9949288" cy="9753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3227013" y="106454"/>
              <a:ext cx="3513005" cy="7616271"/>
            </a:xfrm>
            <a:custGeom>
              <a:avLst/>
              <a:gdLst/>
              <a:ahLst/>
              <a:cxnLst/>
              <a:rect r="r" b="b" t="t" l="l"/>
              <a:pathLst>
                <a:path h="7616271" w="3513005">
                  <a:moveTo>
                    <a:pt x="0" y="0"/>
                  </a:moveTo>
                  <a:lnTo>
                    <a:pt x="3513004" y="0"/>
                  </a:lnTo>
                  <a:lnTo>
                    <a:pt x="3513004" y="7616271"/>
                  </a:lnTo>
                  <a:lnTo>
                    <a:pt x="0" y="7616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3282476" y="272968"/>
              <a:ext cx="3384336" cy="7337314"/>
            </a:xfrm>
            <a:custGeom>
              <a:avLst/>
              <a:gdLst/>
              <a:ahLst/>
              <a:cxnLst/>
              <a:rect r="r" b="b" t="t" l="l"/>
              <a:pathLst>
                <a:path h="7337314" w="3384336">
                  <a:moveTo>
                    <a:pt x="0" y="0"/>
                  </a:moveTo>
                  <a:lnTo>
                    <a:pt x="3384336" y="0"/>
                  </a:lnTo>
                  <a:lnTo>
                    <a:pt x="3384336" y="7337314"/>
                  </a:lnTo>
                  <a:lnTo>
                    <a:pt x="0" y="73373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3180171" y="106454"/>
              <a:ext cx="3588945" cy="7616271"/>
            </a:xfrm>
            <a:custGeom>
              <a:avLst/>
              <a:gdLst/>
              <a:ahLst/>
              <a:cxnLst/>
              <a:rect r="r" b="b" t="t" l="l"/>
              <a:pathLst>
                <a:path h="7616271" w="3588945">
                  <a:moveTo>
                    <a:pt x="0" y="0"/>
                  </a:moveTo>
                  <a:lnTo>
                    <a:pt x="3588945" y="0"/>
                  </a:lnTo>
                  <a:lnTo>
                    <a:pt x="3588945" y="7616271"/>
                  </a:lnTo>
                  <a:lnTo>
                    <a:pt x="0" y="7616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4355" t="0" r="-14355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949288" cy="9753600"/>
            </a:xfrm>
            <a:custGeom>
              <a:avLst/>
              <a:gdLst/>
              <a:ahLst/>
              <a:cxnLst/>
              <a:rect r="r" b="b" t="t" l="l"/>
              <a:pathLst>
                <a:path h="9753600" w="9949288">
                  <a:moveTo>
                    <a:pt x="0" y="0"/>
                  </a:moveTo>
                  <a:lnTo>
                    <a:pt x="9949288" y="0"/>
                  </a:lnTo>
                  <a:lnTo>
                    <a:pt x="9949288" y="9753600"/>
                  </a:lnTo>
                  <a:lnTo>
                    <a:pt x="0" y="975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0" t="0" r="-8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26019" y="2993366"/>
            <a:ext cx="6152474" cy="1918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63"/>
              </a:lnSpc>
            </a:pPr>
            <a:r>
              <a:rPr lang="en-US" sz="16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•Ea</a:t>
            </a:r>
            <a:r>
              <a:rPr lang="en-US" sz="16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-US" sz="16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y </a:t>
            </a:r>
            <a:r>
              <a:rPr lang="en-US" sz="1602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onboarding</a:t>
            </a:r>
            <a:r>
              <a:rPr lang="en-US" sz="16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– individualiz</a:t>
            </a:r>
            <a:r>
              <a:rPr lang="en-US" sz="16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n-US" sz="16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lang="en-US" sz="16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code</a:t>
            </a:r>
            <a:r>
              <a:rPr lang="en-US" sz="16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</a:p>
          <a:p>
            <a:pPr algn="just">
              <a:lnSpc>
                <a:spcPts val="2563"/>
              </a:lnSpc>
            </a:pPr>
            <a:r>
              <a:rPr lang="en-US" sz="16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r>
              <a:rPr lang="en-US" sz="1602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Track</a:t>
            </a:r>
            <a:r>
              <a:rPr lang="en-US" sz="16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bowel </a:t>
            </a:r>
            <a:r>
              <a:rPr lang="en-US" sz="16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ha</a:t>
            </a:r>
            <a:r>
              <a:rPr lang="en-US" sz="16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</a:t>
            </a:r>
            <a:r>
              <a:rPr lang="en-US" sz="16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-US" sz="16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ts</a:t>
            </a:r>
            <a:r>
              <a:rPr lang="en-US" sz="16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an</a:t>
            </a:r>
            <a:r>
              <a:rPr lang="en-US" sz="16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lang="en-US" sz="16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602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symptoms</a:t>
            </a:r>
          </a:p>
          <a:p>
            <a:pPr algn="just">
              <a:lnSpc>
                <a:spcPts val="2563"/>
              </a:lnSpc>
            </a:pPr>
            <a:r>
              <a:rPr lang="en-US" sz="16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r>
              <a:rPr lang="en-US" sz="1602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Monitor progress</a:t>
            </a:r>
            <a:r>
              <a:rPr lang="en-US" sz="16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via charts and sc</a:t>
            </a:r>
            <a:r>
              <a:rPr lang="en-US" sz="16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ores</a:t>
            </a:r>
          </a:p>
          <a:p>
            <a:pPr algn="just">
              <a:lnSpc>
                <a:spcPts val="2563"/>
              </a:lnSpc>
            </a:pPr>
            <a:r>
              <a:rPr lang="en-US" sz="16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r>
              <a:rPr lang="en-US" sz="1602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Share</a:t>
            </a:r>
            <a:r>
              <a:rPr lang="en-US" sz="16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re</a:t>
            </a:r>
            <a:r>
              <a:rPr lang="en-US" sz="16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ports with</a:t>
            </a:r>
            <a:r>
              <a:rPr lang="en-US" sz="16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you</a:t>
            </a:r>
            <a:r>
              <a:rPr lang="en-US" sz="16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 p</a:t>
            </a:r>
            <a:r>
              <a:rPr lang="en-US" sz="16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hy</a:t>
            </a:r>
            <a:r>
              <a:rPr lang="en-US" sz="16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si</a:t>
            </a:r>
            <a:r>
              <a:rPr lang="en-US" sz="16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cian</a:t>
            </a:r>
          </a:p>
          <a:p>
            <a:pPr algn="just">
              <a:lnSpc>
                <a:spcPts val="2563"/>
              </a:lnSpc>
            </a:pPr>
            <a:r>
              <a:rPr lang="en-US" sz="16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r>
              <a:rPr lang="en-US" sz="1602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Education</a:t>
            </a:r>
            <a:r>
              <a:rPr lang="en-US" sz="16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for diet, exercises, and more</a:t>
            </a:r>
          </a:p>
          <a:p>
            <a:pPr algn="just">
              <a:lnSpc>
                <a:spcPts val="2563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731520" y="721995"/>
            <a:ext cx="5774055" cy="1096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2"/>
              </a:lnSpc>
            </a:pPr>
            <a:r>
              <a:rPr lang="en-US" sz="3525">
                <a:solidFill>
                  <a:srgbClr val="000000"/>
                </a:solidFill>
                <a:latin typeface="Bogart"/>
                <a:ea typeface="Bogart"/>
                <a:cs typeface="Bogart"/>
                <a:sym typeface="Bogart"/>
              </a:rPr>
              <a:t>Simple. In</a:t>
            </a:r>
            <a:r>
              <a:rPr lang="en-US" sz="3525">
                <a:solidFill>
                  <a:srgbClr val="000000"/>
                </a:solidFill>
                <a:latin typeface="Bogart"/>
                <a:ea typeface="Bogart"/>
                <a:cs typeface="Bogart"/>
                <a:sym typeface="Bogart"/>
              </a:rPr>
              <a:t>tu</a:t>
            </a:r>
            <a:r>
              <a:rPr lang="en-US" sz="3525">
                <a:solidFill>
                  <a:srgbClr val="000000"/>
                </a:solidFill>
                <a:latin typeface="Bogart"/>
                <a:ea typeface="Bogart"/>
                <a:cs typeface="Bogart"/>
                <a:sym typeface="Bogart"/>
              </a:rPr>
              <a:t>itive.</a:t>
            </a:r>
          </a:p>
          <a:p>
            <a:pPr algn="l">
              <a:lnSpc>
                <a:spcPts val="4372"/>
              </a:lnSpc>
            </a:pPr>
            <a:r>
              <a:rPr lang="en-US" sz="3525">
                <a:solidFill>
                  <a:srgbClr val="000000"/>
                </a:solidFill>
                <a:latin typeface="Bogart"/>
                <a:ea typeface="Bogart"/>
                <a:cs typeface="Bogart"/>
                <a:sym typeface="Bogart"/>
              </a:rPr>
              <a:t>Daily use i</a:t>
            </a:r>
            <a:r>
              <a:rPr lang="en-US" sz="3525">
                <a:solidFill>
                  <a:srgbClr val="000000"/>
                </a:solidFill>
                <a:latin typeface="Bogart"/>
                <a:ea typeface="Bogart"/>
                <a:cs typeface="Bogart"/>
                <a:sym typeface="Bogart"/>
              </a:rPr>
              <a:t>n</a:t>
            </a:r>
            <a:r>
              <a:rPr lang="en-US" sz="3525">
                <a:solidFill>
                  <a:srgbClr val="000000"/>
                </a:solidFill>
                <a:latin typeface="Bogart"/>
                <a:ea typeface="Bogart"/>
                <a:cs typeface="Bogart"/>
                <a:sym typeface="Bogart"/>
              </a:rPr>
              <a:t> 1–2 m</a:t>
            </a:r>
            <a:r>
              <a:rPr lang="en-US" sz="3525">
                <a:solidFill>
                  <a:srgbClr val="000000"/>
                </a:solidFill>
                <a:latin typeface="Bogart"/>
                <a:ea typeface="Bogart"/>
                <a:cs typeface="Bogart"/>
                <a:sym typeface="Bogart"/>
              </a:rPr>
              <a:t>i</a:t>
            </a:r>
            <a:r>
              <a:rPr lang="en-US" sz="3525">
                <a:solidFill>
                  <a:srgbClr val="000000"/>
                </a:solidFill>
                <a:latin typeface="Bogart"/>
                <a:ea typeface="Bogart"/>
                <a:cs typeface="Bogart"/>
                <a:sym typeface="Bogart"/>
              </a:rPr>
              <a:t>nu</a:t>
            </a:r>
            <a:r>
              <a:rPr lang="en-US" sz="3525">
                <a:solidFill>
                  <a:srgbClr val="000000"/>
                </a:solidFill>
                <a:latin typeface="Bogart"/>
                <a:ea typeface="Bogart"/>
                <a:cs typeface="Bogart"/>
                <a:sym typeface="Bogart"/>
              </a:rPr>
              <a:t>t</a:t>
            </a:r>
            <a:r>
              <a:rPr lang="en-US" sz="3525">
                <a:solidFill>
                  <a:srgbClr val="000000"/>
                </a:solidFill>
                <a:latin typeface="Bogart"/>
                <a:ea typeface="Bogart"/>
                <a:cs typeface="Bogart"/>
                <a:sym typeface="Bogart"/>
              </a:rPr>
              <a:t>es.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49586" y="457976"/>
            <a:ext cx="7633932" cy="7490795"/>
          </a:xfrm>
          <a:custGeom>
            <a:avLst/>
            <a:gdLst/>
            <a:ahLst/>
            <a:cxnLst/>
            <a:rect r="r" b="b" t="t" l="l"/>
            <a:pathLst>
              <a:path h="7490795" w="7633932">
                <a:moveTo>
                  <a:pt x="0" y="0"/>
                </a:moveTo>
                <a:lnTo>
                  <a:pt x="7633931" y="0"/>
                </a:lnTo>
                <a:lnTo>
                  <a:pt x="7633931" y="7490796"/>
                </a:lnTo>
                <a:lnTo>
                  <a:pt x="0" y="74907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505575" y="721995"/>
            <a:ext cx="5774055" cy="544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2"/>
              </a:lnSpc>
            </a:pPr>
            <a:r>
              <a:rPr lang="en-US" sz="3525">
                <a:solidFill>
                  <a:srgbClr val="000000"/>
                </a:solidFill>
                <a:latin typeface="Bogart"/>
                <a:ea typeface="Bogart"/>
                <a:cs typeface="Bogart"/>
                <a:sym typeface="Bogart"/>
              </a:rPr>
              <a:t>Be</a:t>
            </a:r>
            <a:r>
              <a:rPr lang="en-US" sz="3525">
                <a:solidFill>
                  <a:srgbClr val="000000"/>
                </a:solidFill>
                <a:latin typeface="Bogart"/>
                <a:ea typeface="Bogart"/>
                <a:cs typeface="Bogart"/>
                <a:sym typeface="Bogart"/>
              </a:rPr>
              <a:t>n</a:t>
            </a:r>
            <a:r>
              <a:rPr lang="en-US" sz="3525">
                <a:solidFill>
                  <a:srgbClr val="000000"/>
                </a:solidFill>
                <a:latin typeface="Bogart"/>
                <a:ea typeface="Bogart"/>
                <a:cs typeface="Bogart"/>
                <a:sym typeface="Bogart"/>
              </a:rPr>
              <a:t>ef</a:t>
            </a:r>
            <a:r>
              <a:rPr lang="en-US" sz="3525">
                <a:solidFill>
                  <a:srgbClr val="000000"/>
                </a:solidFill>
                <a:latin typeface="Bogart"/>
                <a:ea typeface="Bogart"/>
                <a:cs typeface="Bogart"/>
                <a:sym typeface="Bogart"/>
              </a:rPr>
              <a:t>it</a:t>
            </a:r>
            <a:r>
              <a:rPr lang="en-US" sz="3525">
                <a:solidFill>
                  <a:srgbClr val="000000"/>
                </a:solidFill>
                <a:latin typeface="Bogart"/>
                <a:ea typeface="Bogart"/>
                <a:cs typeface="Bogart"/>
                <a:sym typeface="Bogart"/>
              </a:rPr>
              <a:t>s for </a:t>
            </a:r>
            <a:r>
              <a:rPr lang="en-US" sz="3525" b="true">
                <a:solidFill>
                  <a:srgbClr val="000000"/>
                </a:solidFill>
                <a:latin typeface="Bogart Bold"/>
                <a:ea typeface="Bogart Bold"/>
                <a:cs typeface="Bogart Bold"/>
                <a:sym typeface="Bogart Bold"/>
              </a:rPr>
              <a:t>Physicians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505575" y="2752022"/>
            <a:ext cx="6152474" cy="1918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63"/>
              </a:lnSpc>
            </a:pPr>
            <a:r>
              <a:rPr lang="en-US" sz="16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S</a:t>
            </a:r>
            <a:r>
              <a:rPr lang="en-US" sz="16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ee </a:t>
            </a:r>
            <a:r>
              <a:rPr lang="en-US" sz="16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</a:t>
            </a:r>
            <a:r>
              <a:rPr lang="en-US" sz="16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16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</a:t>
            </a:r>
            <a:r>
              <a:rPr lang="en-US" sz="16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-US" sz="16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lang="en-US" sz="16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16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ted </a:t>
            </a:r>
            <a:r>
              <a:rPr lang="en-US" sz="1602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scores and symptom</a:t>
            </a:r>
            <a:r>
              <a:rPr lang="en-US" sz="16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t</a:t>
            </a:r>
            <a:r>
              <a:rPr lang="en-US" sz="16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rends over time</a:t>
            </a:r>
          </a:p>
          <a:p>
            <a:pPr algn="just">
              <a:lnSpc>
                <a:spcPts val="2563"/>
              </a:lnSpc>
            </a:pPr>
            <a:r>
              <a:rPr lang="en-US" sz="16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• Quickly </a:t>
            </a:r>
            <a:r>
              <a:rPr lang="en-US" sz="1602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identify worsening LARS</a:t>
            </a:r>
            <a:r>
              <a:rPr lang="en-US" sz="16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o</a:t>
            </a:r>
            <a:r>
              <a:rPr lang="en-US" sz="16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 no</a:t>
            </a:r>
            <a:r>
              <a:rPr lang="en-US" sz="16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n-</a:t>
            </a:r>
            <a:r>
              <a:rPr lang="en-US" sz="16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</a:t>
            </a:r>
            <a:r>
              <a:rPr lang="en-US" sz="16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sp</a:t>
            </a:r>
            <a:r>
              <a:rPr lang="en-US" sz="16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on</a:t>
            </a:r>
            <a:r>
              <a:rPr lang="en-US" sz="16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se</a:t>
            </a:r>
          </a:p>
          <a:p>
            <a:pPr algn="just">
              <a:lnSpc>
                <a:spcPts val="2563"/>
              </a:lnSpc>
            </a:pPr>
            <a:r>
              <a:rPr lang="en-US" sz="16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• Disc</a:t>
            </a:r>
            <a:r>
              <a:rPr lang="en-US" sz="16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</a:t>
            </a:r>
            <a:r>
              <a:rPr lang="en-US" sz="16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ss</a:t>
            </a:r>
            <a:r>
              <a:rPr lang="en-US" sz="16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6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r>
              <a:rPr lang="en-US" sz="16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</a:t>
            </a:r>
            <a:r>
              <a:rPr lang="en-US" sz="16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j</a:t>
            </a:r>
            <a:r>
              <a:rPr lang="en-US" sz="16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ec</a:t>
            </a:r>
            <a:r>
              <a:rPr lang="en-US" sz="16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r>
              <a:rPr lang="en-US" sz="16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-US" sz="16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</a:t>
            </a:r>
            <a:r>
              <a:rPr lang="en-US" sz="16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 </a:t>
            </a:r>
            <a:r>
              <a:rPr lang="en-US" sz="16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sy</a:t>
            </a:r>
            <a:r>
              <a:rPr lang="en-US" sz="16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</a:t>
            </a:r>
            <a:r>
              <a:rPr lang="en-US" sz="16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pt</a:t>
            </a:r>
            <a:r>
              <a:rPr lang="en-US" sz="16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r>
              <a:rPr lang="en-US" sz="16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 data during </a:t>
            </a:r>
            <a:r>
              <a:rPr lang="en-US" sz="1602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follow-up</a:t>
            </a:r>
          </a:p>
          <a:p>
            <a:pPr algn="just">
              <a:lnSpc>
                <a:spcPts val="2563"/>
              </a:lnSpc>
            </a:pPr>
            <a:r>
              <a:rPr lang="en-US" sz="16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• </a:t>
            </a:r>
            <a:r>
              <a:rPr lang="en-US" sz="1602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Save time</a:t>
            </a:r>
            <a:r>
              <a:rPr lang="en-US" sz="16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and </a:t>
            </a:r>
            <a:r>
              <a:rPr lang="en-US" sz="16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impro</a:t>
            </a:r>
            <a:r>
              <a:rPr lang="en-US" sz="16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ve </a:t>
            </a:r>
            <a:r>
              <a:rPr lang="en-US" sz="1602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personalized care</a:t>
            </a:r>
          </a:p>
          <a:p>
            <a:pPr algn="just">
              <a:lnSpc>
                <a:spcPts val="2563"/>
              </a:lnSpc>
            </a:pPr>
            <a:r>
              <a:rPr lang="en-US" sz="16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r>
              <a:rPr lang="en-US" sz="16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Po</a:t>
            </a:r>
            <a:r>
              <a:rPr lang="en-US" sz="16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r>
              <a:rPr lang="en-US" sz="16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en</a:t>
            </a:r>
            <a:r>
              <a:rPr lang="en-US" sz="16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tial </a:t>
            </a:r>
            <a:r>
              <a:rPr lang="en-US" sz="1602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integration into EMRs</a:t>
            </a:r>
            <a:r>
              <a:rPr lang="en-US" sz="16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or registries</a:t>
            </a:r>
          </a:p>
          <a:p>
            <a:pPr algn="just">
              <a:lnSpc>
                <a:spcPts val="2563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599065" y="4397530"/>
            <a:ext cx="1526193" cy="1526193"/>
          </a:xfrm>
          <a:custGeom>
            <a:avLst/>
            <a:gdLst/>
            <a:ahLst/>
            <a:cxnLst/>
            <a:rect r="r" b="b" t="t" l="l"/>
            <a:pathLst>
              <a:path h="1526193" w="1526193">
                <a:moveTo>
                  <a:pt x="0" y="0"/>
                </a:moveTo>
                <a:lnTo>
                  <a:pt x="1526193" y="0"/>
                </a:lnTo>
                <a:lnTo>
                  <a:pt x="1526193" y="1526193"/>
                </a:lnTo>
                <a:lnTo>
                  <a:pt x="0" y="15261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38099" y="4397530"/>
            <a:ext cx="1526193" cy="1526193"/>
          </a:xfrm>
          <a:custGeom>
            <a:avLst/>
            <a:gdLst/>
            <a:ahLst/>
            <a:cxnLst/>
            <a:rect r="r" b="b" t="t" l="l"/>
            <a:pathLst>
              <a:path h="1526193" w="1526193">
                <a:moveTo>
                  <a:pt x="0" y="0"/>
                </a:moveTo>
                <a:lnTo>
                  <a:pt x="1526193" y="0"/>
                </a:lnTo>
                <a:lnTo>
                  <a:pt x="1526193" y="1526193"/>
                </a:lnTo>
                <a:lnTo>
                  <a:pt x="0" y="15261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085336" y="4397530"/>
            <a:ext cx="1526193" cy="1526193"/>
          </a:xfrm>
          <a:custGeom>
            <a:avLst/>
            <a:gdLst/>
            <a:ahLst/>
            <a:cxnLst/>
            <a:rect r="r" b="b" t="t" l="l"/>
            <a:pathLst>
              <a:path h="1526193" w="1526193">
                <a:moveTo>
                  <a:pt x="0" y="0"/>
                </a:moveTo>
                <a:lnTo>
                  <a:pt x="1526192" y="0"/>
                </a:lnTo>
                <a:lnTo>
                  <a:pt x="1526192" y="1526193"/>
                </a:lnTo>
                <a:lnTo>
                  <a:pt x="0" y="15261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264545" y="4397530"/>
            <a:ext cx="1526193" cy="1526193"/>
          </a:xfrm>
          <a:custGeom>
            <a:avLst/>
            <a:gdLst/>
            <a:ahLst/>
            <a:cxnLst/>
            <a:rect r="r" b="b" t="t" l="l"/>
            <a:pathLst>
              <a:path h="1526193" w="1526193">
                <a:moveTo>
                  <a:pt x="0" y="0"/>
                </a:moveTo>
                <a:lnTo>
                  <a:pt x="1526192" y="0"/>
                </a:lnTo>
                <a:lnTo>
                  <a:pt x="1526192" y="1526193"/>
                </a:lnTo>
                <a:lnTo>
                  <a:pt x="0" y="15261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153121" y="621100"/>
            <a:ext cx="6737135" cy="1203886"/>
            <a:chOff x="0" y="0"/>
            <a:chExt cx="8982847" cy="160518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19050"/>
              <a:ext cx="8982847" cy="7971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773"/>
                </a:lnSpc>
                <a:spcBef>
                  <a:spcPct val="0"/>
                </a:spcBef>
              </a:pPr>
              <a:r>
                <a:rPr lang="en-US" sz="3849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What’s next?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119781"/>
              <a:ext cx="8982847" cy="485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33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9270" y="2490288"/>
            <a:ext cx="3103851" cy="2334625"/>
            <a:chOff x="0" y="0"/>
            <a:chExt cx="4138468" cy="3112833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19050"/>
              <a:ext cx="4138468" cy="24055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73"/>
                </a:lnSpc>
              </a:pPr>
              <a:r>
                <a:rPr lang="en-US" sz="3849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Pilot testing with patients</a:t>
              </a:r>
            </a:p>
            <a:p>
              <a:pPr algn="ctr" marL="0" indent="0" lvl="0">
                <a:lnSpc>
                  <a:spcPts val="4773"/>
                </a:lnSpc>
                <a:spcBef>
                  <a:spcPct val="0"/>
                </a:spcBef>
              </a:pP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2737676"/>
              <a:ext cx="4138468" cy="375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08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052584" y="2188718"/>
            <a:ext cx="3591696" cy="2937763"/>
            <a:chOff x="0" y="0"/>
            <a:chExt cx="4788927" cy="3917018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19050"/>
              <a:ext cx="4788927" cy="32097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773"/>
                </a:lnSpc>
                <a:spcBef>
                  <a:spcPct val="0"/>
                </a:spcBef>
              </a:pPr>
              <a:r>
                <a:rPr lang="en-US" sz="3849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Integrating  alerts &amp; AI suggestions</a:t>
              </a:r>
            </a:p>
            <a:p>
              <a:pPr algn="ctr" marL="0" indent="0" lvl="0">
                <a:lnSpc>
                  <a:spcPts val="4773"/>
                </a:lnSpc>
                <a:spcBef>
                  <a:spcPct val="0"/>
                </a:spcBef>
              </a:pP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3541860"/>
              <a:ext cx="4788927" cy="375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08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231793" y="2490288"/>
            <a:ext cx="3591696" cy="1731486"/>
            <a:chOff x="0" y="0"/>
            <a:chExt cx="4788927" cy="2308649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19050"/>
              <a:ext cx="4788927" cy="16013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773"/>
                </a:lnSpc>
                <a:spcBef>
                  <a:spcPct val="0"/>
                </a:spcBef>
              </a:pPr>
              <a:r>
                <a:rPr lang="en-US" sz="3849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Multilingual interface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933491"/>
              <a:ext cx="4788927" cy="375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08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823489" y="2490288"/>
            <a:ext cx="3077346" cy="2334625"/>
            <a:chOff x="0" y="0"/>
            <a:chExt cx="4103127" cy="3112833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-19050"/>
              <a:ext cx="4103127" cy="24055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73"/>
                </a:lnSpc>
              </a:pPr>
              <a:r>
                <a:rPr lang="en-US" sz="3849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Collaborators for testing </a:t>
              </a:r>
            </a:p>
            <a:p>
              <a:pPr algn="ctr" marL="0" indent="0" lvl="0">
                <a:lnSpc>
                  <a:spcPts val="4773"/>
                </a:lnSpc>
                <a:spcBef>
                  <a:spcPct val="0"/>
                </a:spcBef>
              </a:pP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2737676"/>
              <a:ext cx="4103127" cy="375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08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0813" y="292102"/>
            <a:ext cx="3796403" cy="3772968"/>
          </a:xfrm>
          <a:custGeom>
            <a:avLst/>
            <a:gdLst/>
            <a:ahLst/>
            <a:cxnLst/>
            <a:rect r="r" b="b" t="t" l="l"/>
            <a:pathLst>
              <a:path h="3772968" w="3796403">
                <a:moveTo>
                  <a:pt x="0" y="0"/>
                </a:moveTo>
                <a:lnTo>
                  <a:pt x="3796403" y="0"/>
                </a:lnTo>
                <a:lnTo>
                  <a:pt x="3796403" y="3772968"/>
                </a:lnTo>
                <a:lnTo>
                  <a:pt x="0" y="37729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689043" y="288244"/>
            <a:ext cx="3776826" cy="3776826"/>
          </a:xfrm>
          <a:custGeom>
            <a:avLst/>
            <a:gdLst/>
            <a:ahLst/>
            <a:cxnLst/>
            <a:rect r="r" b="b" t="t" l="l"/>
            <a:pathLst>
              <a:path h="3776826" w="3776826">
                <a:moveTo>
                  <a:pt x="0" y="0"/>
                </a:moveTo>
                <a:lnTo>
                  <a:pt x="3776826" y="0"/>
                </a:lnTo>
                <a:lnTo>
                  <a:pt x="3776826" y="3776826"/>
                </a:lnTo>
                <a:lnTo>
                  <a:pt x="0" y="37768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018319" y="292102"/>
            <a:ext cx="3784519" cy="3784519"/>
          </a:xfrm>
          <a:custGeom>
            <a:avLst/>
            <a:gdLst/>
            <a:ahLst/>
            <a:cxnLst/>
            <a:rect r="r" b="b" t="t" l="l"/>
            <a:pathLst>
              <a:path h="3784519" w="3784519">
                <a:moveTo>
                  <a:pt x="0" y="0"/>
                </a:moveTo>
                <a:lnTo>
                  <a:pt x="3784518" y="0"/>
                </a:lnTo>
                <a:lnTo>
                  <a:pt x="3784518" y="3784518"/>
                </a:lnTo>
                <a:lnTo>
                  <a:pt x="0" y="37845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40813" y="4795867"/>
            <a:ext cx="3652641" cy="2427858"/>
            <a:chOff x="0" y="0"/>
            <a:chExt cx="4870188" cy="3237144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38100"/>
              <a:ext cx="4870188" cy="4056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9"/>
                </a:lnSpc>
              </a:pPr>
              <a:r>
                <a:rPr lang="en-US" sz="2229">
                  <a:solidFill>
                    <a:srgbClr val="545454"/>
                  </a:solidFill>
                  <a:latin typeface="Yeseva One"/>
                  <a:ea typeface="Yeseva One"/>
                  <a:cs typeface="Yeseva One"/>
                  <a:sym typeface="Yeseva One"/>
                </a:rPr>
                <a:t>Dovile Cerkauskaite, M.D. 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614748"/>
              <a:ext cx="4870188" cy="26223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75"/>
                </a:lnSpc>
              </a:pPr>
              <a:r>
                <a:rPr lang="en-US" sz="1410" spc="217">
                  <a:solidFill>
                    <a:srgbClr val="54545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“</a:t>
              </a:r>
            </a:p>
            <a:p>
              <a:pPr algn="l">
                <a:lnSpc>
                  <a:spcPts val="1975"/>
                </a:lnSpc>
              </a:pPr>
              <a:r>
                <a:rPr lang="en-US" sz="1410" spc="217">
                  <a:solidFill>
                    <a:srgbClr val="54545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PROJECT IDEA AND CLINICAL CONCEPT; SYMPTOM MODULES, EDUCATIONAL CONTENT, AND APP TEXTS; COORDINATION AND COLLABORATION WITH DEVELOPER</a:t>
              </a:r>
            </a:p>
            <a:p>
              <a:pPr algn="l">
                <a:lnSpc>
                  <a:spcPts val="1975"/>
                </a:lnSpc>
              </a:pPr>
            </a:p>
            <a:p>
              <a:pPr algn="l">
                <a:lnSpc>
                  <a:spcPts val="1975"/>
                </a:lnSpc>
              </a:pPr>
              <a:r>
                <a:rPr lang="en-US" sz="1410" spc="217">
                  <a:solidFill>
                    <a:srgbClr val="54545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“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545281" y="4795867"/>
            <a:ext cx="3920587" cy="2427883"/>
            <a:chOff x="0" y="0"/>
            <a:chExt cx="5227450" cy="3237178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38100"/>
              <a:ext cx="5227450" cy="405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9"/>
                </a:lnSpc>
              </a:pPr>
              <a:r>
                <a:rPr lang="en-US" sz="2229">
                  <a:solidFill>
                    <a:srgbClr val="545454"/>
                  </a:solidFill>
                  <a:latin typeface="Yeseva One"/>
                  <a:ea typeface="Yeseva One"/>
                  <a:cs typeface="Yeseva One"/>
                  <a:sym typeface="Yeseva One"/>
                </a:rPr>
                <a:t>Benedikt Bachmetjev, M.D. 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614781"/>
              <a:ext cx="5227450" cy="26223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75"/>
                </a:lnSpc>
              </a:pPr>
              <a:r>
                <a:rPr lang="en-US" sz="1410" spc="217">
                  <a:solidFill>
                    <a:srgbClr val="54545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“</a:t>
              </a:r>
            </a:p>
            <a:p>
              <a:pPr algn="l">
                <a:lnSpc>
                  <a:spcPts val="1975"/>
                </a:lnSpc>
              </a:pPr>
              <a:r>
                <a:rPr lang="en-US" sz="1410" spc="217">
                  <a:solidFill>
                    <a:srgbClr val="54545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CLINICAL CO-DESIGN AND TECHNICAL </a:t>
              </a:r>
              <a:r>
                <a:rPr lang="en-US" sz="1410" spc="217">
                  <a:solidFill>
                    <a:srgbClr val="54545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L</a:t>
              </a:r>
              <a:r>
                <a:rPr lang="en-US" sz="1410" spc="217">
                  <a:solidFill>
                    <a:srgbClr val="54545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E</a:t>
              </a:r>
              <a:r>
                <a:rPr lang="en-US" sz="1410" spc="217">
                  <a:solidFill>
                    <a:srgbClr val="54545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A</a:t>
              </a:r>
              <a:r>
                <a:rPr lang="en-US" sz="1410" spc="217">
                  <a:solidFill>
                    <a:srgbClr val="54545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D;</a:t>
              </a:r>
              <a:r>
                <a:rPr lang="en-US" sz="1410" spc="217">
                  <a:solidFill>
                    <a:srgbClr val="54545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1410" spc="217">
                  <a:solidFill>
                    <a:srgbClr val="54545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APP DEVE</a:t>
              </a:r>
              <a:r>
                <a:rPr lang="en-US" sz="1410" spc="217">
                  <a:solidFill>
                    <a:srgbClr val="54545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L</a:t>
              </a:r>
              <a:r>
                <a:rPr lang="en-US" sz="1410" spc="217">
                  <a:solidFill>
                    <a:srgbClr val="54545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OPM</a:t>
              </a:r>
              <a:r>
                <a:rPr lang="en-US" sz="1410" spc="217">
                  <a:solidFill>
                    <a:srgbClr val="54545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EN</a:t>
              </a:r>
              <a:r>
                <a:rPr lang="en-US" sz="1410" spc="217">
                  <a:solidFill>
                    <a:srgbClr val="54545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T: DESIGN, CODING, FULL-STACK INFRASTRUCTURE</a:t>
              </a:r>
            </a:p>
            <a:p>
              <a:pPr algn="l">
                <a:lnSpc>
                  <a:spcPts val="1975"/>
                </a:lnSpc>
              </a:pPr>
            </a:p>
            <a:p>
              <a:pPr algn="l">
                <a:lnSpc>
                  <a:spcPts val="1975"/>
                </a:lnSpc>
              </a:pPr>
            </a:p>
            <a:p>
              <a:pPr algn="l">
                <a:lnSpc>
                  <a:spcPts val="1975"/>
                </a:lnSpc>
              </a:pPr>
              <a:r>
                <a:rPr lang="en-US" sz="1410" spc="217">
                  <a:solidFill>
                    <a:srgbClr val="54545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“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854008" y="4774252"/>
            <a:ext cx="4113140" cy="2449473"/>
            <a:chOff x="0" y="0"/>
            <a:chExt cx="5484187" cy="3265964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38100"/>
              <a:ext cx="5484187" cy="4345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30"/>
                </a:lnSpc>
              </a:pPr>
              <a:r>
                <a:rPr lang="en-US" sz="2330">
                  <a:solidFill>
                    <a:srgbClr val="545454"/>
                  </a:solidFill>
                  <a:latin typeface="Yeseva One"/>
                  <a:ea typeface="Yeseva One"/>
                  <a:cs typeface="Yeseva One"/>
                  <a:sym typeface="Yeseva One"/>
                </a:rPr>
                <a:t>Audrius Dulskas, M.D., PhD 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643568"/>
              <a:ext cx="5484187" cy="26223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75"/>
                </a:lnSpc>
              </a:pPr>
              <a:r>
                <a:rPr lang="en-US" sz="1410" spc="217">
                  <a:solidFill>
                    <a:srgbClr val="54545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“</a:t>
              </a:r>
            </a:p>
            <a:p>
              <a:pPr algn="l">
                <a:lnSpc>
                  <a:spcPts val="1975"/>
                </a:lnSpc>
              </a:pPr>
              <a:r>
                <a:rPr lang="en-US" sz="1410" spc="217">
                  <a:solidFill>
                    <a:srgbClr val="54545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CLINICAL FEEDBACK AND USABILITY; A</a:t>
              </a:r>
              <a:r>
                <a:rPr lang="en-US" sz="1410" spc="217">
                  <a:solidFill>
                    <a:srgbClr val="54545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SS</a:t>
              </a:r>
              <a:r>
                <a:rPr lang="en-US" sz="1410" spc="217">
                  <a:solidFill>
                    <a:srgbClr val="54545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ESSED INTE</a:t>
              </a:r>
              <a:r>
                <a:rPr lang="en-US" sz="1410" spc="217">
                  <a:solidFill>
                    <a:srgbClr val="54545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R</a:t>
              </a:r>
              <a:r>
                <a:rPr lang="en-US" sz="1410" spc="217">
                  <a:solidFill>
                    <a:srgbClr val="54545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FAC</a:t>
              </a:r>
              <a:r>
                <a:rPr lang="en-US" sz="1410" spc="217">
                  <a:solidFill>
                    <a:srgbClr val="54545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E</a:t>
              </a:r>
              <a:r>
                <a:rPr lang="en-US" sz="1410" spc="217">
                  <a:solidFill>
                    <a:srgbClr val="54545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FROM PHYSICIAN’S PERSPECTIVE; CONTRIBUTED TO LOGIC AND DECISION FLOW</a:t>
              </a:r>
            </a:p>
            <a:p>
              <a:pPr algn="l">
                <a:lnSpc>
                  <a:spcPts val="1975"/>
                </a:lnSpc>
              </a:pPr>
            </a:p>
            <a:p>
              <a:pPr algn="l">
                <a:lnSpc>
                  <a:spcPts val="1975"/>
                </a:lnSpc>
              </a:pPr>
              <a:r>
                <a:rPr lang="en-US" sz="1410" spc="217">
                  <a:solidFill>
                    <a:srgbClr val="54545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“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4372297" y="6578918"/>
            <a:ext cx="4075453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3209242" y="-351688"/>
            <a:ext cx="6592667" cy="6592667"/>
          </a:xfrm>
          <a:custGeom>
            <a:avLst/>
            <a:gdLst/>
            <a:ahLst/>
            <a:cxnLst/>
            <a:rect r="r" b="b" t="t" l="l"/>
            <a:pathLst>
              <a:path h="6592667" w="6592667">
                <a:moveTo>
                  <a:pt x="0" y="0"/>
                </a:moveTo>
                <a:lnTo>
                  <a:pt x="6592666" y="0"/>
                </a:lnTo>
                <a:lnTo>
                  <a:pt x="6592666" y="6592667"/>
                </a:lnTo>
                <a:lnTo>
                  <a:pt x="0" y="65926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330454" y="5993160"/>
            <a:ext cx="6159138" cy="247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90"/>
              </a:lnSpc>
              <a:spcBef>
                <a:spcPct val="0"/>
              </a:spcBef>
            </a:pPr>
            <a:r>
              <a:rPr lang="en-US" sz="1493" spc="13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SMART SUPPORT FOR LIFE AFTER RECTAL SURGERY.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DAGvIgGaMFI</dc:identifier>
  <dcterms:modified xsi:type="dcterms:W3CDTF">2011-08-01T06:04:30Z</dcterms:modified>
  <cp:revision>1</cp:revision>
  <dc:title>Copy of Mentor AI</dc:title>
</cp:coreProperties>
</file>